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346" r:id="rId3"/>
    <p:sldId id="348" r:id="rId4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 snapToGrid="0">
      <p:cViewPr>
        <p:scale>
          <a:sx n="77" d="100"/>
          <a:sy n="77" d="100"/>
        </p:scale>
        <p:origin x="-438" y="-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7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3C61-AE97-420E-9123-E403B041A58C}" type="datetimeFigureOut">
              <a:rPr lang="en-IN" smtClean="0"/>
              <a:pPr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FDDB-46BF-4186-B0EA-9945E8BFD7F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BD72AF-E637-44D3-A05D-2D58118EC657}" type="slidenum">
              <a:rPr lang="en-I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348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97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665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377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633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564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75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48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076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69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147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310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065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137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3390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51147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1200" y="1371601"/>
            <a:ext cx="105664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687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>
    <p:fade/>
  </p:transition>
  <p:hf sldNum="0" hdr="0" ftr="0" dt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5pPr>
      <a:lvl6pPr marL="4572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6pPr>
      <a:lvl7pPr marL="9144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7pPr>
      <a:lvl8pPr marL="13716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8pPr>
      <a:lvl9pPr marL="18288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6-JU-Build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40"/>
          <a:stretch>
            <a:fillRect/>
          </a:stretch>
        </p:blipFill>
        <p:spPr bwMode="auto">
          <a:xfrm>
            <a:off x="222209" y="5053653"/>
            <a:ext cx="9849938" cy="143452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1266860"/>
            <a:ext cx="12192000" cy="42858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>
                <a:latin typeface="Times New Roman"/>
              </a:rPr>
              <a:t>Major Project Presentation</a:t>
            </a:r>
            <a:endParaRPr lang="en-US" sz="40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>
                <a:latin typeface="Times New Roman"/>
              </a:rPr>
              <a:t>On</a:t>
            </a: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latin typeface="Times New Roman"/>
              </a:rPr>
              <a:t>MEDISUTRA: A Unified Longitudinal Personal Health Intelligence &amp; Federated Clinical Copilot Platform</a:t>
            </a: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54305" y="3308447"/>
            <a:ext cx="3192624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1363" indent="-284163">
              <a:spcBef>
                <a:spcPct val="20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1413" indent="-2270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 marL="1598613" indent="-2270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 marL="2055813" indent="-2270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9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>
                <a:latin typeface="Times New Roman"/>
              </a:rPr>
              <a:t>Presented By:-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>
                <a:latin typeface="Times New Roman"/>
              </a:rPr>
              <a:t>Samarth (Lead Developer)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>
                <a:latin typeface="Times New Roman"/>
              </a:rPr>
              <a:t>Roll No: [Enrollment No]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8254" y="6425551"/>
            <a:ext cx="2715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2025-2026</a:t>
            </a:r>
          </a:p>
          <a:p>
            <a:pPr algn="ctr"/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905565" y="3651803"/>
            <a:ext cx="306422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  <a:p>
            <a:endParaRPr lang="en-US" sz="2000" b="1" dirty="0"/>
          </a:p>
          <a:p>
            <a:r>
              <a:rPr>
                <a:latin typeface="Times New Roman"/>
              </a:rPr>
              <a:t>Guide:-</a:t>
            </a:r>
          </a:p>
          <a:p>
            <a:r>
              <a:rPr>
                <a:latin typeface="Times New Roman"/>
              </a:rPr>
              <a:t>[Faculty Guide Name]</a:t>
            </a:r>
            <a:br/>
            <a:r>
              <a:rPr>
                <a:latin typeface="Times New Roman"/>
              </a:rPr>
              <a:t>Assistant Professor</a:t>
            </a:r>
          </a:p>
          <a:p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6594" y="322225"/>
            <a:ext cx="7481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</a:p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</a:p>
        </p:txBody>
      </p:sp>
      <p:pic>
        <p:nvPicPr>
          <p:cNvPr id="13" name="Picture 12" descr="C:\Documents and Settings\Administrator\Local Settings\Temp\JECRC_University_Logo_in_Horizontal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024" y="3134786"/>
            <a:ext cx="3716594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118167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2109216" y="356617"/>
            <a:ext cx="82296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FontTx/>
              <a:buNone/>
            </a:pPr>
            <a:endParaRPr lang="en-US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798945" y="1627909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600" indent="-53340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52600" indent="-3810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09800" indent="-3810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670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242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814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386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>
              <a:buClr>
                <a:schemeClr val="bg1"/>
              </a:buClr>
              <a:buNone/>
            </a:pPr>
            <a:endParaRPr lang="en-US" alt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3520441" y="283464"/>
            <a:ext cx="49011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558" y="1244384"/>
            <a:ext cx="117623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 &amp; Problem Statement (Background, motivation, and the core problem being addressed</a:t>
            </a:r>
            <a:r>
              <a:rPr lang="en-US" dirty="0">
                <a:latin typeface="Times New Roman"/>
              </a:rPr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Literature Review (if any) or System Design (</a:t>
            </a: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Block diagrams, flowcharts,</a:t>
            </a:r>
            <a:r>
              <a:rPr lang="en-IN" dirty="0">
                <a:latin typeface="Times New Roman"/>
              </a:rPr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SRS, UML Diagrams, DFD, ER Diagrams etc. 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Methodology (Approach, architecture, algorithms or processes used</a:t>
            </a:r>
            <a:r>
              <a:rPr lang="en-US" dirty="0">
                <a:latin typeface="Times New Roman"/>
              </a:rPr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Tools and Technology Used (Hardware components, software, programming languages, frameworks, libraries)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Roles and Responsibilities of each Member</a:t>
            </a:r>
          </a:p>
          <a:p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Implementation (Step-by-step development, modules built, code snippets etc.)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Results (Screenshots, graphs, test data, observations, and performance metrics etc.</a:t>
            </a:r>
            <a:r>
              <a:rPr lang="en-US" dirty="0">
                <a:latin typeface="Times New Roman"/>
              </a:rPr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 &amp; Future Scope (Summary of achievements, limitations, and possible future enhancements)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 (Books, research papers, websites cited in IEEE or APA format)</a:t>
            </a:r>
          </a:p>
        </p:txBody>
      </p:sp>
    </p:spTree>
    <p:extLst>
      <p:ext uri="{BB962C8B-B14F-4D97-AF65-F5344CB8AC3E}">
        <p14:creationId xmlns:p14="http://schemas.microsoft.com/office/powerpoint/2010/main" val="340167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Introduction &amp; Clinical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DC2626"/>
                </a:solidFill>
                <a:latin typeface="Times New Roman"/>
              </a:defRPr>
            </a:pPr>
            <a:r>
              <a:t>THE FRAGMENTATION CRISIS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Paper Record Silos: </a:t>
            </a:r>
            <a:r>
              <a:rPr sz="1200">
                <a:solidFill>
                  <a:srgbClr val="334155"/>
                </a:solidFill>
                <a:latin typeface="Times New Roman"/>
              </a:rPr>
              <a:t>Patients carry physical plastic files across multi-hospital visits; documents are routinely misplaced or damaged.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Redundant Diagnostic Tests: </a:t>
            </a:r>
            <a:r>
              <a:rPr sz="1200">
                <a:solidFill>
                  <a:srgbClr val="334155"/>
                </a:solidFill>
                <a:latin typeface="Times New Roman"/>
              </a:rPr>
              <a:t>Inaccessible historical lab results force doctors to repeat expensive tests (HbA1c, CT scans), wasting resources.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Clinical Blindspots: </a:t>
            </a:r>
            <a:r>
              <a:rPr sz="1200">
                <a:solidFill>
                  <a:srgbClr val="334155"/>
                </a:solidFill>
                <a:latin typeface="Times New Roman"/>
              </a:rPr>
              <a:t>Attending physicians lack visibility into past hospitalizations, adverse drug reactions, and baseline readings.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Conflation of Acute &amp; Chronic: </a:t>
            </a:r>
            <a:r>
              <a:rPr sz="1200">
                <a:solidFill>
                  <a:srgbClr val="334155"/>
                </a:solidFill>
                <a:latin typeface="Times New Roman"/>
              </a:rPr>
              <a:t>Cured illnesses (Dengue, Bronchitis) are mixed with active conditions (Diabetes, Hypertension).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MEDISUTRA PLATFORM SOLUTION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Unified Health Identity: </a:t>
            </a:r>
            <a:r>
              <a:rPr sz="1200">
                <a:solidFill>
                  <a:srgbClr val="334155"/>
                </a:solidFill>
                <a:latin typeface="Times New Roman"/>
              </a:rPr>
              <a:t>Anchored to the 14-digit ABHA/ABDM identifier, unifying multi-hospital encounters into one health journey.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Federated Hospital Network: </a:t>
            </a:r>
            <a:r>
              <a:rPr sz="1200">
                <a:solidFill>
                  <a:srgbClr val="334155"/>
                </a:solidFill>
                <a:latin typeface="Times New Roman"/>
              </a:rPr>
              <a:t>Interoperable clinical graph connecting Apollo, Fortis, Max, AIIMS, Dr. Lal PathLabs, and Metropolis.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Disease Lifecycle State Machine: </a:t>
            </a:r>
            <a:r>
              <a:rPr sz="1200">
                <a:solidFill>
                  <a:srgbClr val="334155"/>
                </a:solidFill>
                <a:latin typeface="Times New Roman"/>
              </a:rPr>
              <a:t>Explicit clinical separation of active chronic conditions from certified cured historical illnesses.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Deterministic Clinical AI: </a:t>
            </a:r>
            <a:r>
              <a:rPr sz="1200">
                <a:solidFill>
                  <a:srgbClr val="334155"/>
                </a:solidFill>
                <a:latin typeface="Times New Roman"/>
              </a:rPr>
              <a:t>Zero-hallucination decision support copilot calculating lab trajectories with 1-click consultation note insertion.</a:t>
            </a:r>
          </a:p>
        </p:txBody>
      </p:sp>
    </p:spTree>
    <p:extLst>
      <p:ext uri="{BB962C8B-B14F-4D97-AF65-F5344CB8AC3E}">
        <p14:creationId xmlns:p14="http://schemas.microsoft.com/office/powerpoint/2010/main" val="45060736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Project Objectives &amp; Course Outcome Attainment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1907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CO1: Problem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Formulate a condition-centric longitudinal computing model to resolve Indian healthcare data fragmentation.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67919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CO2: System Design &amp;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Architect an enterprise 4-tier web platform using React 19, TypeScript, Express.js, and relational database ER modeling.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63931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CO3: Implementation &amp;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6616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Develop modular micro-services and reactive workstations with 0 compiler/lint errors and E2E test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59943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CO4: Ethics &amp; Project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2628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Enforce Zero-Trust security and data sovereignty adhering to India's DPDPA 2023 and agile GitHub version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55955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CO5: Technical 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48640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Deliver comprehensive architectural specs, live system demonstrations, visual recordings, and thesis defense.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Literature Review &amp; Research Gap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0F172A"/>
                </a:solidFill>
                <a:latin typeface="Times New Roman"/>
              </a:defRPr>
            </a:pPr>
            <a:r>
              <a:t>EXISTING HEALTHCARE PLATFORMS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Epic MyChart / Cerner: </a:t>
            </a:r>
            <a:r>
              <a:rPr sz="1150">
                <a:solidFill>
                  <a:srgbClr val="334155"/>
                </a:solidFill>
                <a:latin typeface="Times New Roman"/>
              </a:rPr>
              <a:t>Proprietary enterprise EHR walled gardens. Cross-facility sharing requires vendor-specific exchange networks.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Apple Health: </a:t>
            </a:r>
            <a:r>
              <a:rPr sz="1150">
                <a:solidFill>
                  <a:srgbClr val="334155"/>
                </a:solidFill>
                <a:latin typeface="Times New Roman"/>
              </a:rPr>
              <a:t>Patient-pulled mobile application. Displays raw lists without active vs. cured disease separation.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ABDM PHR Apps (Official): </a:t>
            </a:r>
            <a:r>
              <a:rPr sz="1150">
                <a:solidFill>
                  <a:srgbClr val="334155"/>
                </a:solidFill>
                <a:latin typeface="Times New Roman"/>
              </a:rPr>
              <a:t>Enables consent-based document push but stores static PDFs without longitudinal biomarker analytics.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Practo / 1mg: </a:t>
            </a:r>
            <a:r>
              <a:rPr sz="1150">
                <a:solidFill>
                  <a:srgbClr val="334155"/>
                </a:solidFill>
                <a:latin typeface="Times New Roman"/>
              </a:rPr>
              <a:t>Commercial tele-health platforms limited to private clinics with basic customer FAQ bots.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IDENTIFIED RESEARCH GAPS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Gap 1 (The PDF Dump Problem):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Doctors cannot read through dozens of raw PDF files during brief outpatient consultations. Records must be condition-centric.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Gap 2 (Lack of Cure Lifecycle): </a:t>
            </a:r>
            <a:r>
              <a:rPr sz="1150">
                <a:solidFill>
                  <a:srgbClr val="334155"/>
                </a:solidFill>
                <a:latin typeface="Times New Roman"/>
              </a:rPr>
              <a:t>Current EHRs lack certified clinical workflows for stamping disease cure milestones with follow-up evidence.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Gap 3 (Clinical AI Hallucinations): </a:t>
            </a:r>
            <a:r>
              <a:rPr sz="1150">
                <a:solidFill>
                  <a:srgbClr val="334155"/>
                </a:solidFill>
                <a:latin typeface="Times New Roman"/>
              </a:rPr>
              <a:t>Generative LLMs hallucinate medical facts and fail at temporal math. Healthcare demands deterministic, grounded decision support.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MediSutra Innovation: </a:t>
            </a:r>
            <a:r>
              <a:rPr sz="1150">
                <a:solidFill>
                  <a:srgbClr val="334155"/>
                </a:solidFill>
                <a:latin typeface="Times New Roman"/>
              </a:rPr>
              <a:t>Bridges all three gaps through an integrated federated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System Design: Enterprise 4-Tier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system_architecture_4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26094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554480"/>
            <a:ext cx="4297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TIERED ARCHITECTURAL SPECIFICATION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Tier 1: Presentation Layer </a:t>
            </a:r>
            <a:r>
              <a:rPr sz="1150">
                <a:solidFill>
                  <a:srgbClr val="334155"/>
                </a:solidFill>
                <a:latin typeface="Times New Roman"/>
              </a:rPr>
              <a:t>React 19 + TypeScript + Vite. Role-partitioned clinical workstations for Doctors, Hospital Admins, and Citizens.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Tier 2: API Gateway Layer </a:t>
            </a:r>
            <a:r>
              <a:rPr sz="1150">
                <a:solidFill>
                  <a:srgbClr val="334155"/>
                </a:solidFill>
                <a:latin typeface="Times New Roman"/>
              </a:rPr>
              <a:t>Express.js REST gateway with Zero-Trust RBAC middleware, session persistence, and standardized JSON envelopes.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Tier 3: Clinical Intelligence </a:t>
            </a:r>
            <a:r>
              <a:rPr sz="1150">
                <a:solidFill>
                  <a:srgbClr val="334155"/>
                </a:solidFill>
                <a:latin typeface="Times New Roman"/>
              </a:rPr>
              <a:t>Deterministic RAG pipeline, quantitative trajectory computing engine, and disease lifecycle state machine.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Tier 4: Persistence Layer </a:t>
            </a:r>
            <a:r>
              <a:rPr sz="1150">
                <a:solidFill>
                  <a:srgbClr val="334155"/>
                </a:solidFill>
                <a:latin typeface="Times New Roman"/>
              </a:rPr>
              <a:t>Relational health models, 14-digit ABHA patient registry, and immutable audit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System Design: Data Flow Diagrams (DFD Level 0 &amp; Level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dfd_level_0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351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43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Times New Roman"/>
              </a:defRPr>
            </a:pPr>
            <a:r>
              <a:t>Figure 4.2: DFD Level 0 Context Level Diagram</a:t>
            </a:r>
          </a:p>
        </p:txBody>
      </p:sp>
      <p:pic>
        <p:nvPicPr>
          <p:cNvPr id="8" name="Picture 7" descr="03_dfd_level_1_subsys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6671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9436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Times New Roman"/>
              </a:defRPr>
            </a:pPr>
            <a:r>
              <a:t>Figure 4.3: DFD Level 1 Core Subsystems Decomposition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System Design: Federated Hospital Network (HRC Topology)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hrc_network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43748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554480"/>
            <a:ext cx="4297680" cy="48463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FEDERATED NETWORK TOPOLOGY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Central Registry Hub: </a:t>
            </a:r>
            <a:r>
              <a:rPr sz="1150">
                <a:solidFill>
                  <a:srgbClr val="334155"/>
                </a:solidFill>
                <a:latin typeface="Times New Roman"/>
              </a:rPr>
              <a:t>Maintains unified patient identities anchored to the 14-digit ABHA number.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Hospital Nodes: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Apollo Hospitals, Fortis Memorial, Max Super Speciality, AIIMS New Delhi operate authenticated clinical stations.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Diagnostic Nodes: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Dr. Lal PathLabs and Metropolis Healthcare ingest laboratory test panels directly into the central vault.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Decentralized Continuity: </a:t>
            </a:r>
            <a:r>
              <a:rPr sz="1150">
                <a:solidFill>
                  <a:srgbClr val="334155"/>
                </a:solidFill>
                <a:latin typeface="Times New Roman"/>
              </a:rPr>
              <a:t>Hospitals retain institutional autonomy while contributing standardized encounter data to the patient's sovereign health graph.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System Design: Conceptual Entity-Relationship (ER)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conceptual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46761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554480"/>
            <a:ext cx="4297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3NF RELATIONAL SCHEMA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Patients Entity: </a:t>
            </a:r>
            <a:r>
              <a:rPr sz="1150">
                <a:solidFill>
                  <a:srgbClr val="334155"/>
                </a:solidFill>
                <a:latin typeface="Times New Roman"/>
              </a:rPr>
              <a:t>healthId (PK), abhaNumber (14-digit unique), demographic data, and primary facility.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Encounters Entity: </a:t>
            </a:r>
            <a:r>
              <a:rPr sz="1150">
                <a:solidFill>
                  <a:srgbClr val="334155"/>
                </a:solidFill>
                <a:latin typeface="Times New Roman"/>
              </a:rPr>
              <a:t>Captures doctorId, hospitalId, ICD-10 diagnosis, clinical severity, and examination notes.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Conditions Entity: </a:t>
            </a:r>
            <a:r>
              <a:rPr sz="1150">
                <a:solidFill>
                  <a:srgbClr val="334155"/>
                </a:solidFill>
                <a:latin typeface="Times New Roman"/>
              </a:rPr>
              <a:t>Maintains lifetime disease state (ACTIVE vs. RESOLVED), diagnosedDate, curedDate, and curedEvidence.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Reports &amp; Biomarkers: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Stores multi-year lab panels and quantitative analyte readings (HbA1c, Glucose, Vitamin 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System Design: Disease Lifecycle State Transition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disease_lifecycle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6709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645920"/>
            <a:ext cx="3931920" cy="466344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EXPLICIT CLINICAL LIFECYCLE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Active Chronic State: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Diseases requiring ongoing therapy (Type 2 Diabetes, Hypertension) remain tagged ACTIVE.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Cure Certification: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Doctors certify illness resolution by submitting follow-up clinical examination notes and diagnostic evidence.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Longitudinal History: </a:t>
            </a:r>
            <a:r>
              <a:rPr sz="1150">
                <a:solidFill>
                  <a:srgbClr val="334155"/>
                </a:solidFill>
                <a:latin typeface="Times New Roman"/>
              </a:rPr>
              <a:t>Cured illnesses (Dengue, Bronchitis) transition to RESOLVED and are archived into historical records with verified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System Design: Clinical Consultation Workflow (UML Sequence)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uml_consultation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400800" cy="45035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554480"/>
            <a:ext cx="4114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INTERACTION FLOW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1. Patient Selection: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Doctor selects patient from assigned roster.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2. Dossier Ingestion: </a:t>
            </a:r>
            <a:r>
              <a:rPr sz="1150">
                <a:solidFill>
                  <a:srgbClr val="334155"/>
                </a:solidFill>
                <a:latin typeface="Times New Roman"/>
              </a:rPr>
              <a:t>Gateway queries multi-hospital data store and streams longitudinal record.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3. Copilot Query: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Doctor clicks preset chip or types clinical symptoms.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4. Real-Time Synthesis: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AI engine correlates symptoms, computes trajectories, and returns report.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5. Consultation Note Export: </a:t>
            </a:r>
            <a:r>
              <a:rPr sz="1150">
                <a:solidFill>
                  <a:srgbClr val="334155"/>
                </a:solidFill>
                <a:latin typeface="Times New Roman"/>
              </a:rPr>
              <a:t>1-click copy directly inserts structured intelligence into active note.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Methodology: Deterministic Clinical AI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clinical_ai_ra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46761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554480"/>
            <a:ext cx="4297680" cy="48463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DETERMINISTIC RAG PIPELINE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1. Query Ingestion: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Doctors input clinical observations or select instant preset chips.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2. Cross-Hospital Fetch: </a:t>
            </a:r>
            <a:r>
              <a:rPr sz="1150">
                <a:solidFill>
                  <a:srgbClr val="334155"/>
                </a:solidFill>
                <a:latin typeface="Times New Roman"/>
              </a:rPr>
              <a:t>Queries patient's complete cross-hospital record across all connected facilities.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3. Symptom Correlation: </a:t>
            </a:r>
            <a:r>
              <a:rPr sz="1150">
                <a:solidFill>
                  <a:srgbClr val="334155"/>
                </a:solidFill>
                <a:latin typeface="Times New Roman"/>
              </a:rPr>
              <a:t>Maps tokens to ICD-10 conditions, partitioning active from cured illnesses.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4. Trajectory Math: </a:t>
            </a:r>
            <a:r>
              <a:rPr sz="1150">
                <a:solidFill>
                  <a:srgbClr val="334155"/>
                </a:solidFill>
                <a:latin typeface="Times New Roman"/>
              </a:rPr>
              <a:t>Calculates numerical deltas and directionality for biomarkers.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5. Grounded Note Export: </a:t>
            </a:r>
            <a:r>
              <a:rPr sz="1150">
                <a:solidFill>
                  <a:srgbClr val="334155"/>
                </a:solidFill>
                <a:latin typeface="Times New Roman"/>
              </a:rPr>
              <a:t>Outputs clinical synthesis with multi-hospital citations and 1-click note copy.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Methodology: Quantitative Lab Trajectory Computing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biomarker_trajectori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29268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645920"/>
            <a:ext cx="39319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MATHEMATICAL FORMULATION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Trajectory Differential: </a:t>
            </a:r>
            <a:r>
              <a:rPr sz="1150">
                <a:solidFill>
                  <a:srgbClr val="334155"/>
                </a:solidFill>
                <a:latin typeface="Times New Roman"/>
              </a:rPr>
              <a:t>Δ = V_latest - V_baseline
% Change = (Δ / V_baseline) * 100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Directionality Rules: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• Down: Improved / Therapeutic control
• Up: Elevated / Disease progression
• Stable: |% Change| &lt; 3%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Metabolic Validation: </a:t>
            </a:r>
            <a:r>
              <a:rPr sz="1150">
                <a:solidFill>
                  <a:srgbClr val="334155"/>
                </a:solidFill>
                <a:latin typeface="Times New Roman"/>
              </a:rPr>
              <a:t>HbA1c dropped from 8.7% (2024) to 6.9% (2026) -&gt; Flagged 'Down (Improved)' on Metformin BID.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Tools and Technology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1907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Frontend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React 19, TypeScript 5.8, Vite 8.3 build toolchain, custom CSS clinical design system with hardware-accelerated micro-animations.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67919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Backend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Node.js 22 LTS, Express.js 4.x REST API gateway, Zero-Trust authentication middleware, CORS, modular domain routers.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63931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Database &amp;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6616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Relational health schema normalized to 3NF, indexed queries on healthId, foreign keys, transaction safety.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59943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Standards &amp; Ontologies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2628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HL7 FHIR R4 JSON schemas, WHO ICD-10 diagnostic codes, LOINC lab identifiers, ABDM 14-digit ABHA identity.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559552"/>
            <a:ext cx="23774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Quality &amp; Testing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486400"/>
            <a:ext cx="7772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Times New Roman"/>
              </a:defRPr>
            </a:pPr>
            <a:r>
              <a:t>Oxlint (high-performance linter, 0 errors), TypeScript compiler (tsc -b), Vitest, Git/GitHub version control.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Roles and Responsibilities of each Team 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Samarth (Lead Developer / Project Coordinator)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End-to-end full-stack software architecture and system design.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Designed and engineered the Deterministic Clinical AI Copilot &amp; Trajectory Engine.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Built the luxury clinical UI design system, keyframe animations, and reactive state management.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Backend REST API gateway development, Zero-Trust RBAC gatekeeper, and route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[Student Name 2] (Backend &amp; Data Modeling)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Relational database schema design (3NF), data dictionaries, and entity-relationship models.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Diagnostic reports vault data modeling and biomarker parameter extraction.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Integration of WHO ICD-10 diagnostic classifications and LOINC standard mappings.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Automated unit testing and performance benchmarking.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[Student Name 3] (Frontend UI &amp; Documentation)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Sovereign Citizen DigiLocker, ABHA identity card presentation, and QR code generation.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Hospital administrator capacity dashboard and multi-hospital registry views.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Authored comprehensive architectural specifications, UML sequence models, and DFDs.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• Test case execution matrix, visual regression verification, and project thesis drafting.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Implementation: Modular Backend Architecture &amp; Zero-Trust Gatekeeper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zero_trust_rbac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35444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645920"/>
            <a:ext cx="4114800" cy="466344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CORE MODULE IMPLEMENTATION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authRouter.ts: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Role validation, credential verification, and session state persistence.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doctorRouter.ts: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Patient roster, clinical examination entries, and disease cure certification.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aiRouter.ts: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Deterministic Clinical AI Copilot and report analysis engine.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hospitalRouter.ts: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Hospital network registry and facility operational dashboards.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patientRouter.ts: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Citizen DigiLocker data and ABHA card generation.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Results: Doctor Specialist Station &amp; Clinical Dossier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doctor_clinical_doss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31272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554480"/>
            <a:ext cx="393192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CLINICAL OBSERVATIONS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Authenticated Specialist: </a:t>
            </a:r>
            <a:r>
              <a:rPr sz="1150">
                <a:solidFill>
                  <a:srgbClr val="334155"/>
                </a:solidFill>
                <a:latin typeface="Times New Roman"/>
              </a:rPr>
              <a:t>Dr. Priya Nair (MBBS, MD) | License: MCI-2012-44120 | Apollo Hospitals &amp; Heart Institute.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Action Triggers: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+ Record Disease Encounter &amp; + Issue Diagnostic Lab Report buttons.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Assigned Patient Roster: </a:t>
            </a:r>
            <a:r>
              <a:rPr sz="1150">
                <a:solidFill>
                  <a:srgbClr val="334155"/>
                </a:solidFill>
                <a:latin typeface="Times New Roman"/>
              </a:rPr>
              <a:t>Instant selection across Rahul Sharma, Priya Patel, Amit Verma, Sunita Roy.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Longitudinal Continuity: </a:t>
            </a:r>
            <a:r>
              <a:rPr sz="1150">
                <a:solidFill>
                  <a:srgbClr val="334155"/>
                </a:solidFill>
                <a:latin typeface="Times New Roman"/>
              </a:rPr>
              <a:t>One-click inspection of patient's multi-hospital health journey throughout lifespan.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Results: Clinical AI Copilot &amp; Longitudinal Report Analyzer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ai_copilot_work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61582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554480"/>
            <a:ext cx="3931920" cy="48463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AI COPILOT UI FEATURES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Rainbow Spectrum Bar: </a:t>
            </a:r>
            <a:r>
              <a:rPr sz="1150">
                <a:solidFill>
                  <a:srgbClr val="334155"/>
                </a:solidFill>
                <a:latin typeface="Times New Roman"/>
              </a:rPr>
              <a:t>Flowing 4px multi-color header accent communicating neural synthesis readiness.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Dossier Grounded Status: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Green pulsing live dot confirming zero hallucination grounding.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Instant Preset Chips: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One-click execution for metabolic, cardiac, joint pain, and full trajectory queries.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Elevated Command Shell: </a:t>
            </a:r>
            <a:r>
              <a:rPr sz="1150">
                <a:solidFill>
                  <a:srgbClr val="334155"/>
                </a:solidFill>
                <a:latin typeface="Times New Roman"/>
              </a:rPr>
              <a:t>Focus-within glowing border and real-time cross-hospital synthesis trigger.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Results: Multi-Hospital Clinical Synthesis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clinical_synthesis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61582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554480"/>
            <a:ext cx="393192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SYNTHESIS REPORT SECTIONS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Correlated Conditions: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Amber badges for ACTIVE conditions, green badges for CURED illnesses.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Longitudinal Lab Table: </a:t>
            </a:r>
            <a:r>
              <a:rPr sz="1150">
                <a:solidFill>
                  <a:srgbClr val="334155"/>
                </a:solidFill>
                <a:latin typeface="Times New Roman"/>
              </a:rPr>
              <a:t>Comparing latest 2026 readings against 2024/2025 baselines with trajectory arrows.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Formatted Clinical Text: </a:t>
            </a:r>
            <a:r>
              <a:rPr sz="1150">
                <a:solidFill>
                  <a:srgbClr val="334155"/>
                </a:solidFill>
                <a:latin typeface="Times New Roman"/>
              </a:rPr>
              <a:t>Styled blue section headers, dark subheadings, and chevron bullet lists.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1-Click Note Transfer: </a:t>
            </a:r>
            <a:r>
              <a:rPr sz="1150">
                <a:solidFill>
                  <a:srgbClr val="334155"/>
                </a:solidFill>
                <a:latin typeface="Times New Roman"/>
              </a:rPr>
              <a:t>Clipboard transfer function copying synthesis directly into the active consultation note.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Results: Active vs. Cured Lifetime Disease Continuity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lifetime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31272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554480"/>
            <a:ext cx="3931920" cy="48463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CLINICAL LIFETIME TRACKING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Active Ongoing Conditions: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Type 2 Diabetes Mellitus (E11.9) and Essential Hypertension (I10) displayed with severity, diagnosis date, and regimen.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Resolved Past Diseases: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Acute Bronchitis (J20.9) and Dengue Fever (A90) displayed with verified cure dates and follow-up clinical evidence.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Clinical Utility: </a:t>
            </a:r>
            <a:r>
              <a:rPr sz="1150">
                <a:solidFill>
                  <a:srgbClr val="334155"/>
                </a:solidFill>
                <a:latin typeface="Times New Roman"/>
              </a:rPr>
              <a:t>Prevents physicians from misdiagnosing past infections while maintaining awareness of previous drug responses.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Results: Diagnostic Reports Vault &amp; Sovereign Citizen ABHA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diagnostic_reports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432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43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Times New Roman"/>
              </a:defRPr>
            </a:pPr>
            <a:r>
              <a:t>Figure 6.5: Multi-Hospital Diagnostic Reports Vault</a:t>
            </a:r>
          </a:p>
        </p:txBody>
      </p:sp>
      <p:pic>
        <p:nvPicPr>
          <p:cNvPr id="8" name="Picture 7" descr="06_citizen_abha_ide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4757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9436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34155"/>
                </a:solidFill>
                <a:latin typeface="Times New Roman"/>
              </a:defRPr>
            </a:pPr>
            <a:r>
              <a:t>Figure 6.6: Sovereign Citizen DigiLocker &amp; ABHA Identity Card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Performance Benchmarking &amp; Experimental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284C7"/>
                </a:solidFill>
                <a:latin typeface="Times New Roman"/>
              </a:defRPr>
            </a:pPr>
            <a:r>
              <a:t>&lt; 15 ms</a:t>
            </a:r>
          </a:p>
          <a:p>
            <a:pPr algn="ctr"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Database Query Latency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P95 response time for complete multi-hospital patient dossier retrieval across all entities.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284C7"/>
                </a:solidFill>
                <a:latin typeface="Times New Roman"/>
              </a:defRPr>
            </a:pPr>
            <a:r>
              <a:t>&lt; 50 ms</a:t>
            </a:r>
          </a:p>
          <a:p>
            <a:pPr algn="ctr"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AI Analysis Response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Deterministic RAG pipeline, trajectory math, and synthesis output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284C7"/>
                </a:solidFill>
                <a:latin typeface="Times New Roman"/>
              </a:defRPr>
            </a:pPr>
            <a:r>
              <a:t>1.35 s</a:t>
            </a:r>
          </a:p>
          <a:p>
            <a:pPr algn="ctr"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Vite Production Build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Full client compilation time with zero TypeScript compilation warnings or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284C7"/>
                </a:solidFill>
                <a:latin typeface="Times New Roman"/>
              </a:defRPr>
            </a:pPr>
            <a:r>
              <a:t>0 Errors</a:t>
            </a:r>
          </a:p>
          <a:p>
            <a:pPr algn="ctr"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Oxlint Quality Score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Clean code verification across all 5 backend modules and frontend component hierarchy.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TEST HARNESS EXECUTION SUMMARY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Unit Test Matrix: </a:t>
            </a:r>
            <a:r>
              <a:rPr sz="1150">
                <a:solidFill>
                  <a:srgbClr val="334155"/>
                </a:solidFill>
                <a:latin typeface="Times New Roman"/>
              </a:rPr>
              <a:t>6/6 automated route test cases passed (Auth, Dossier, Cure Certification, AI Analysis).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End-to-End Clinical Workflows: </a:t>
            </a:r>
            <a:r>
              <a:rPr sz="1150">
                <a:solidFill>
                  <a:srgbClr val="334155"/>
                </a:solidFill>
                <a:latin typeface="Times New Roman"/>
              </a:rPr>
              <a:t>4/4 clinical scenarios validated (Metabolic onboarding, Dengue cure stamping, Lab vault ingestion, AI note copy).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  <a:latin typeface="Times New Roman"/>
              </a:rPr>
              <a:t>Zero-Trust Security Test: </a:t>
            </a:r>
            <a:r>
              <a:rPr sz="1150">
                <a:solidFill>
                  <a:srgbClr val="334155"/>
                </a:solidFill>
                <a:latin typeface="Times New Roman"/>
              </a:rPr>
              <a:t>Attempted horizontal privilege escalation from unauthorized doctor IDs blocked with 401/403.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Conclusion &amp; Future Research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KEY PROJECT CONTRIBUTIONS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Unified Longitudinal Dossier: </a:t>
            </a:r>
            <a:r>
              <a:rPr sz="1200">
                <a:solidFill>
                  <a:srgbClr val="334155"/>
                </a:solidFill>
                <a:latin typeface="Times New Roman"/>
              </a:rPr>
              <a:t>Unified multi-hospital records under an ABHA-compliant 14-digit citizen health identity.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Active vs. Cured Continuity: </a:t>
            </a:r>
            <a:r>
              <a:rPr sz="1200">
                <a:solidFill>
                  <a:srgbClr val="334155"/>
                </a:solidFill>
                <a:latin typeface="Times New Roman"/>
              </a:rPr>
              <a:t>Solved lifetime illness conflation through a certified cure state transition machine.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Deterministic Clinical AI: </a:t>
            </a:r>
            <a:r>
              <a:rPr sz="1200">
                <a:solidFill>
                  <a:srgbClr val="334155"/>
                </a:solidFill>
                <a:latin typeface="Times New Roman"/>
              </a:rPr>
              <a:t>Engineered zero-hallucination decision support with quantitative trajectory math and 1-click note copy.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Zero-Trust Architecture: </a:t>
            </a:r>
            <a:r>
              <a:rPr sz="1200">
                <a:solidFill>
                  <a:srgbClr val="334155"/>
                </a:solidFill>
                <a:latin typeface="Times New Roman"/>
              </a:rPr>
              <a:t>Enforced role-scoped workspaces in strict compliance with India's DPDPA 2023.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FUTURE RESEARCH ROADMAP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Live NHA ABDM Gateway: </a:t>
            </a:r>
            <a:r>
              <a:rPr sz="1200">
                <a:solidFill>
                  <a:srgbClr val="334155"/>
                </a:solidFill>
                <a:latin typeface="Times New Roman"/>
              </a:rPr>
              <a:t>Integrate official production sandbox certificates for real-time live hospital EHR synchronization.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Wearable IoT Telemetry: </a:t>
            </a:r>
            <a:r>
              <a:rPr sz="1200">
                <a:solidFill>
                  <a:srgbClr val="334155"/>
                </a:solidFill>
                <a:latin typeface="Times New Roman"/>
              </a:rPr>
              <a:t>Stream continuous glucose monitoring (CGM) and heart rate variability from consumer smartwatches.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Vernacular Multilingual AI: </a:t>
            </a:r>
            <a:r>
              <a:rPr sz="1200">
                <a:solidFill>
                  <a:srgbClr val="334155"/>
                </a:solidFill>
                <a:latin typeface="Times New Roman"/>
              </a:rPr>
              <a:t>Expand natural language copilot support to Hindi, Tamil, Telugu, and Bengali for rural health centers.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  <a:latin typeface="Times New Roman"/>
              </a:rPr>
              <a:t>Federated Clinical Research: </a:t>
            </a:r>
            <a:r>
              <a:rPr sz="1200">
                <a:solidFill>
                  <a:srgbClr val="334155"/>
                </a:solidFill>
                <a:latin typeface="Times New Roman"/>
              </a:rPr>
              <a:t>Implement differential privacy for multi-hospital epidemiological research without exposing patient identities.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BCO 519A —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References &amp; Academic Citations (IEEE / APA Format)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300">
                <a:solidFill>
                  <a:srgbClr val="0284C7"/>
                </a:solidFill>
                <a:latin typeface="Times New Roman"/>
              </a:defRPr>
            </a:pPr>
            <a:r>
              <a:t>PEER-REVIEWED CITATIONS &amp; STANDARDS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[1] National Health Authority (NHA). 'Ayushman Bharat Digital Mission (ABDM) Strategy Document.' Ministry of Health and Family Welfare, New Delhi, 2021.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[2] HL7 International. 'Fast Healthcare Interoperability Resources (FHIR) Release 4 Standard.' Health Level Seven International, Ann Arbor, MI, 2019.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[3] World Health Organization (WHO). 'International Statistical Classification of Diseases and Related Health Problems (ICD-10).' 10th Revision, Geneva, 2016.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[4] Ministry of Law and Justice, Govt of India. 'The Digital Personal Data Protection Act, 2023 (Act No. 22 of 2023).' The Gazette of India, August 2023.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[5] P. Rajpurkar, E. Chen, O. Banerjee, and E. J. Topol. 'AI in health and medicine.' Nature Medicine, vol. 28, no. 1, pp. 31–38, 2022.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[6] K. Singhal, S. Azizi, T. Tu, et al. 'Large language models encode clinical knowledge.' Nature, vol. 620, pp. 172–180, 2023.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[7] K. D. Mandl and I. S. Kohane. 'Escaping the EHR trap — The future of health IT.' New England Journal of Medicine, vol. 366, no. 24, pp. 2240–2242, 2012.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4155"/>
                </a:solidFill>
                <a:latin typeface="Times New Roman"/>
              </a:rPr>
              <a:t>[8] Department of Computer Science &amp; Engineering. 'BCO 519A — Major Project Guidelines &amp; Evaluation Scheme.' Academic Session 2025–2026.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7290</TotalTime>
  <Words>219</Words>
  <Application>Microsoft Office PowerPoint</Application>
  <PresentationFormat>Custom</PresentationFormat>
  <Paragraphs>42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robot</dc:creator>
  <cp:lastModifiedBy>Jitender</cp:lastModifiedBy>
  <cp:revision>76</cp:revision>
  <dcterms:created xsi:type="dcterms:W3CDTF">2020-03-02T04:57:11Z</dcterms:created>
  <dcterms:modified xsi:type="dcterms:W3CDTF">2026-10-06T04:30:02Z</dcterms:modified>
</cp:coreProperties>
</file>